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OCP (V)</c:v>
                </c:pt>
              </c:strCache>
            </c:strRef>
          </c:tx>
          <c:spPr>
            <a:ln w="27940">
              <a:solidFill>
                <a:srgbClr val="246EB8"/>
              </a:solidFill>
            </a:ln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-0.237</c:v>
                </c:pt>
                <c:pt idx="1">
                  <c:v>-0.236</c:v>
                </c:pt>
                <c:pt idx="2">
                  <c:v>-0.236</c:v>
                </c:pt>
                <c:pt idx="3">
                  <c:v>-0.235</c:v>
                </c:pt>
                <c:pt idx="4">
                  <c:v>-0.234</c:v>
                </c:pt>
                <c:pt idx="5">
                  <c:v>-0.153</c:v>
                </c:pt>
                <c:pt idx="6">
                  <c:v>-0.16</c:v>
                </c:pt>
                <c:pt idx="7">
                  <c:v>-0.169</c:v>
                </c:pt>
                <c:pt idx="8">
                  <c:v>-0.176</c:v>
                </c:pt>
                <c:pt idx="9">
                  <c:v>-0.183</c:v>
                </c:pt>
                <c:pt idx="10">
                  <c:v>-0.188</c:v>
                </c:pt>
                <c:pt idx="11">
                  <c:v>-0.192</c:v>
                </c:pt>
                <c:pt idx="12">
                  <c:v>-0.196</c:v>
                </c:pt>
                <c:pt idx="13">
                  <c:v>-0.2</c:v>
                </c:pt>
                <c:pt idx="14">
                  <c:v>-0.205</c:v>
                </c:pt>
                <c:pt idx="15">
                  <c:v>-0.21</c:v>
                </c:pt>
                <c:pt idx="16">
                  <c:v>-0.214</c:v>
                </c:pt>
                <c:pt idx="17">
                  <c:v>-0.218</c:v>
                </c:pt>
                <c:pt idx="18">
                  <c:v>-0.225</c:v>
                </c:pt>
                <c:pt idx="19">
                  <c:v>-0.231</c:v>
                </c:pt>
                <c:pt idx="20">
                  <c:v>-0.236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-0.14"/>
          <c:min val="-0.25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0.02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OCP (V)</c:v>
                </c:pt>
              </c:strCache>
            </c:strRef>
          </c:tx>
          <c:spPr>
            <a:ln w="27940">
              <a:solidFill>
                <a:srgbClr val="246EB8"/>
              </a:solidFill>
            </a:ln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-0.01</c:v>
                </c:pt>
                <c:pt idx="1">
                  <c:v>-0.015</c:v>
                </c:pt>
                <c:pt idx="2">
                  <c:v>-0.02</c:v>
                </c:pt>
                <c:pt idx="3">
                  <c:v>-0.03</c:v>
                </c:pt>
                <c:pt idx="4">
                  <c:v>-0.04</c:v>
                </c:pt>
                <c:pt idx="5">
                  <c:v>-0.07</c:v>
                </c:pt>
                <c:pt idx="6">
                  <c:v>-0.11</c:v>
                </c:pt>
                <c:pt idx="7">
                  <c:v>-0.145</c:v>
                </c:pt>
                <c:pt idx="8">
                  <c:v>-0.175</c:v>
                </c:pt>
                <c:pt idx="9">
                  <c:v>-0.2</c:v>
                </c:pt>
                <c:pt idx="10">
                  <c:v>-0.22</c:v>
                </c:pt>
                <c:pt idx="11">
                  <c:v>-0.238</c:v>
                </c:pt>
                <c:pt idx="12">
                  <c:v>-0.252</c:v>
                </c:pt>
                <c:pt idx="13">
                  <c:v>-0.266</c:v>
                </c:pt>
                <c:pt idx="14">
                  <c:v>-0.278</c:v>
                </c:pt>
                <c:pt idx="15">
                  <c:v>-0.288</c:v>
                </c:pt>
                <c:pt idx="16">
                  <c:v>-0.296</c:v>
                </c:pt>
                <c:pt idx="17">
                  <c:v>-0.3</c:v>
                </c:pt>
                <c:pt idx="18">
                  <c:v>-0.24</c:v>
                </c:pt>
                <c:pt idx="19">
                  <c:v>-0.18</c:v>
                </c:pt>
                <c:pt idx="20">
                  <c:v>-0.13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02"/>
          <c:min val="-0.32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  <c:majorUnit val="0.05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文献机理对应关系：Pd⁰负责催化氧化；Cu/导电基底可能提供电子传递路径；Ni沉积仍需表征确认。</a:t>
            </a:r>
          </a:p>
          <a:p>
            <a:r>
              <a:t>边界：本页不将未由本次实验直接证明的内容写成确定事实。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1823192" cy="6492240"/>
          </a:xfrm>
          <a:prstGeom prst="rect">
            <a:avLst/>
          </a:prstGeom>
          <a:noFill/>
          <a:ln w="22860">
            <a:solidFill>
              <a:srgbClr val="2A8C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5666"/>
                </a:solidFill>
                <a:latin typeface="Microsoft YaHei"/>
              </a:defRPr>
            </a:pPr>
            <a:r>
              <a:t>OCP验证：铜接入可耦合氧化/还原过程，但尚不能等同于化学镀启动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51560"/>
            <a:ext cx="11155680" cy="566928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2A8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>
                <a:solidFill>
                  <a:srgbClr val="232E34"/>
                </a:solidFill>
                <a:latin typeface="Microsoft YaHei"/>
              </a:rPr>
              <a:t>测试条件：</a:t>
            </a:r>
            <a:r>
              <a:rPr sz="1600" b="1">
                <a:solidFill>
                  <a:srgbClr val="EB8529"/>
                </a:solidFill>
                <a:latin typeface="Microsoft YaHei"/>
              </a:rPr>
              <a:t>纯 Cu</a:t>
            </a:r>
            <a:r>
              <a:rPr sz="1600" b="0">
                <a:solidFill>
                  <a:srgbClr val="232E34"/>
                </a:solidFill>
                <a:latin typeface="Microsoft YaHei"/>
              </a:rPr>
              <a:t>｜</a:t>
            </a:r>
            <a:r>
              <a:rPr sz="1600" b="1">
                <a:solidFill>
                  <a:srgbClr val="C42C2C"/>
                </a:solidFill>
                <a:latin typeface="Microsoft YaHei"/>
              </a:rPr>
              <a:t>未 Pd 活化</a:t>
            </a:r>
            <a:r>
              <a:rPr sz="1600" b="0">
                <a:solidFill>
                  <a:srgbClr val="232E34"/>
                </a:solidFill>
                <a:latin typeface="Microsoft YaHei"/>
              </a:rPr>
              <a:t>｜</a:t>
            </a:r>
            <a:r>
              <a:rPr sz="1600" b="1">
                <a:solidFill>
                  <a:srgbClr val="C42C2C"/>
                </a:solidFill>
                <a:latin typeface="Microsoft YaHei"/>
              </a:rPr>
              <a:t>非化学镀温度</a:t>
            </a:r>
            <a:r>
              <a:rPr sz="1600" b="0">
                <a:solidFill>
                  <a:srgbClr val="232E34"/>
                </a:solidFill>
                <a:latin typeface="Microsoft YaHei"/>
              </a:rPr>
              <a:t>｜</a:t>
            </a:r>
            <a:r>
              <a:rPr sz="1600" b="1">
                <a:solidFill>
                  <a:srgbClr val="246EB8"/>
                </a:solidFill>
                <a:latin typeface="Microsoft YaHei"/>
              </a:rPr>
              <a:t>OCP 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73352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5666"/>
                </a:solidFill>
                <a:latin typeface="Microsoft YaHei"/>
              </a:defRPr>
            </a:pPr>
            <a:r>
              <a:t>氧化电解液：接入 Cu 后瞬态正移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73352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D5666"/>
                </a:solidFill>
                <a:latin typeface="Microsoft YaHei"/>
              </a:defRPr>
            </a:pPr>
            <a:r>
              <a:t>还原电解液：接入 Cu 后持续负移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965960"/>
          <a:ext cx="5257800" cy="2057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63640" y="1965960"/>
          <a:ext cx="5257800" cy="2057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2148840" y="1993392"/>
            <a:ext cx="0" cy="2029968"/>
          </a:xfrm>
          <a:prstGeom prst="line">
            <a:avLst/>
          </a:prstGeom>
          <a:ln w="19050">
            <a:solidFill>
              <a:srgbClr val="EB852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737360" y="1856231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B8529"/>
                </a:solidFill>
                <a:latin typeface="Microsoft YaHei"/>
              </a:defRPr>
            </a:pPr>
            <a:r>
              <a:t>接入Cu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74920" y="1993392"/>
            <a:ext cx="0" cy="2029968"/>
          </a:xfrm>
          <a:prstGeom prst="line">
            <a:avLst/>
          </a:prstGeom>
          <a:ln w="19050">
            <a:solidFill>
              <a:srgbClr val="6E6E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63440" y="1856231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E6E6E"/>
                </a:solidFill>
                <a:latin typeface="Microsoft YaHei"/>
              </a:defRPr>
            </a:pPr>
            <a:r>
              <a:t>断开Cu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26679" y="1993392"/>
            <a:ext cx="0" cy="2029968"/>
          </a:xfrm>
          <a:prstGeom prst="line">
            <a:avLst/>
          </a:prstGeom>
          <a:ln w="19050">
            <a:solidFill>
              <a:srgbClr val="EB852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199" y="1856231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EB8529"/>
                </a:solidFill>
                <a:latin typeface="Microsoft YaHei"/>
              </a:defRPr>
            </a:pPr>
            <a:r>
              <a:t>接入Cu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652760" y="1993392"/>
            <a:ext cx="0" cy="2029968"/>
          </a:xfrm>
          <a:prstGeom prst="line">
            <a:avLst/>
          </a:prstGeom>
          <a:ln w="19050">
            <a:solidFill>
              <a:srgbClr val="6E6E6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41280" y="1856231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6E6E6E"/>
                </a:solidFill>
                <a:latin typeface="Microsoft YaHei"/>
              </a:defRPr>
            </a:pPr>
            <a:r>
              <a:t>断开Cu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33087"/>
            <a:ext cx="5257800" cy="530352"/>
          </a:xfrm>
          <a:prstGeom prst="roundRect">
            <a:avLst/>
          </a:prstGeom>
          <a:solidFill>
            <a:srgbClr val="ECF7FA"/>
          </a:solidFill>
          <a:ln w="10160">
            <a:solidFill>
              <a:srgbClr val="2A8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32E34"/>
                </a:solidFill>
                <a:latin typeface="Microsoft YaHei"/>
              </a:defRPr>
            </a:pPr>
            <a:r>
              <a:t>Cu 接入改变氧化侧混合电位，说明界面电荷状态发生调整。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133087"/>
            <a:ext cx="5257800" cy="530352"/>
          </a:xfrm>
          <a:prstGeom prst="roundRect">
            <a:avLst/>
          </a:prstGeom>
          <a:solidFill>
            <a:srgbClr val="ECF7FA"/>
          </a:solidFill>
          <a:ln w="10160">
            <a:solidFill>
              <a:srgbClr val="2A8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32E34"/>
                </a:solidFill>
                <a:latin typeface="Microsoft YaHei"/>
              </a:defRPr>
            </a:pPr>
            <a:r>
              <a:t>Cu 接入增强还原侧极化，说明 Cu 参与电荷传递或电位耦合。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800600"/>
            <a:ext cx="3703320" cy="1005840"/>
          </a:xfrm>
          <a:prstGeom prst="roundRect">
            <a:avLst/>
          </a:prstGeom>
          <a:solidFill>
            <a:srgbClr val="ECF7FA"/>
          </a:solidFill>
          <a:ln w="12700">
            <a:solidFill>
              <a:srgbClr val="2A8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5666"/>
                </a:solidFill>
                <a:latin typeface="Microsoft YaHei"/>
              </a:defRPr>
            </a:pPr>
            <a:r>
              <a:t>观察</a:t>
            </a:r>
          </a:p>
          <a:p>
            <a:pPr>
              <a:defRPr sz="1100">
                <a:solidFill>
                  <a:srgbClr val="232E34"/>
                </a:solidFill>
                <a:latin typeface="Microsoft YaHei"/>
              </a:defRPr>
            </a:pPr>
            <a:r>
              <a:t>接入 Cu 后，两侧 OCP 均发生明显偏移；</a:t>
            </a:r>
            <a:br/>
            <a:r>
              <a:t>断开 Cu 后，电位逐渐恢复。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4800600"/>
            <a:ext cx="3703320" cy="1005840"/>
          </a:xfrm>
          <a:prstGeom prst="roundRect">
            <a:avLst/>
          </a:prstGeom>
          <a:solidFill>
            <a:srgbClr val="ECF7FA"/>
          </a:solidFill>
          <a:ln w="12700">
            <a:solidFill>
              <a:srgbClr val="2A8C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5666"/>
                </a:solidFill>
                <a:latin typeface="Microsoft YaHei"/>
              </a:defRPr>
            </a:pPr>
            <a:r>
              <a:t>说明</a:t>
            </a:r>
          </a:p>
          <a:p>
            <a:pPr>
              <a:defRPr sz="1100">
                <a:solidFill>
                  <a:srgbClr val="232E34"/>
                </a:solidFill>
                <a:latin typeface="Microsoft YaHei"/>
              </a:defRPr>
            </a:pPr>
            <a:r>
              <a:t>Cu 的电连接能够改变体系混合电位，</a:t>
            </a:r>
            <a:br/>
            <a:r>
              <a:t>并参与界面电荷传递或电位耦合。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4800600"/>
            <a:ext cx="3703320" cy="1005840"/>
          </a:xfrm>
          <a:prstGeom prst="roundRect">
            <a:avLst/>
          </a:prstGeom>
          <a:solidFill>
            <a:srgbClr val="FFF1F1"/>
          </a:solidFill>
          <a:ln w="12700">
            <a:solidFill>
              <a:srgbClr val="C42C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C42C2C"/>
                </a:solidFill>
                <a:latin typeface="Microsoft YaHei"/>
              </a:defRPr>
            </a:pPr>
            <a:r>
              <a:t>结论边界</a:t>
            </a:r>
          </a:p>
          <a:p>
            <a:pPr>
              <a:defRPr sz="1100">
                <a:solidFill>
                  <a:srgbClr val="232E34"/>
                </a:solidFill>
                <a:latin typeface="Microsoft YaHei"/>
              </a:defRPr>
            </a:pPr>
            <a:r>
              <a:t>尚不能单凭 OCP 证明：Pd 催化已经发生，</a:t>
            </a:r>
            <a:br/>
            <a:r>
              <a:t>或 Bi₂Te₃ 表面已经形成 Ni 沉积。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5870448"/>
            <a:ext cx="5074920" cy="475488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246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246EB8"/>
                </a:solidFill>
                <a:latin typeface="Microsoft YaHei"/>
              </a:defRPr>
            </a:pPr>
            <a:r>
              <a:t>下一步验证：无 Cu / 纯 Cu / Pd 活化 Cu 对照 + 实际化学镀温度 + SEM/EDS、XPS 或沉积增重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327648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5A5A"/>
                </a:solidFill>
                <a:latin typeface="Microsoft YaHei"/>
              </a:defRPr>
            </a:pPr>
            <a:r>
              <a:t>机理对应说明：Pd⁰负责催化氧化；Cu/导电基底可能提供电子传递路径；Ni沉积仍需表征确认。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